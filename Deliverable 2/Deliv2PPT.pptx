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12C731-204B-4E57-A215-82C96A58556C}">
  <a:tblStyle styleId="{1812C731-204B-4E57-A215-82C96A5855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Nuni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8d44896a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8d44896a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8d44896ae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8d44896ae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8d44896ae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8d44896ae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9b3f516a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9b3f516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9b3f516a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9b3f516a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9b3f516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9b3f516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9b3f516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9b3f516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9b3f516a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9b3f516a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9b3f516a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9b3f516a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9b3f516a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9b3f516a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inyurl.com/282fp4km" TargetMode="External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2161625"/>
            <a:ext cx="7688100" cy="9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00">
                <a:latin typeface="Nunito"/>
                <a:ea typeface="Nunito"/>
                <a:cs typeface="Nunito"/>
                <a:sym typeface="Nunito"/>
              </a:rPr>
              <a:t>Deliverable 2</a:t>
            </a:r>
            <a:endParaRPr sz="69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100" y="3529750"/>
            <a:ext cx="3558799" cy="16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1775125" y="755825"/>
            <a:ext cx="6633900" cy="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700"/>
              <a:t>UML Class Diagram</a:t>
            </a:r>
            <a:endParaRPr sz="470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180850" y="2078875"/>
            <a:ext cx="8811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900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3"/>
              </a:rPr>
              <a:t>https://tinyurl.com/282fp4km</a:t>
            </a:r>
            <a:r>
              <a:rPr lang="en" sz="690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sz="69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9577" y="2624675"/>
            <a:ext cx="395349" cy="3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6000" y="1033575"/>
            <a:ext cx="159725" cy="3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>
            <p:ph type="title"/>
          </p:nvPr>
        </p:nvSpPr>
        <p:spPr>
          <a:xfrm>
            <a:off x="1845200" y="753550"/>
            <a:ext cx="6571200" cy="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740"/>
              <a:t>Task Division</a:t>
            </a:r>
            <a:endParaRPr sz="4740"/>
          </a:p>
        </p:txBody>
      </p:sp>
      <p:sp>
        <p:nvSpPr>
          <p:cNvPr id="101" name="Google Shape;101;p15"/>
          <p:cNvSpPr txBox="1"/>
          <p:nvPr/>
        </p:nvSpPr>
        <p:spPr>
          <a:xfrm>
            <a:off x="782075" y="1918475"/>
            <a:ext cx="3719700" cy="26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Daniel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Emotional support &amp;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Helper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Checkers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Setting up board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Getting legal moves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Applying/undoing moves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○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Stuff with checkers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Alex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Emotional support &amp;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Helper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Self-training loop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Partially connect Neural Net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698450" y="1918475"/>
            <a:ext cx="3719700" cy="26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Sebastian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Helper &amp; emotional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Convolutional layer structure and forward pass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Monte Carlo Tree Search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Georges</a:t>
            </a:r>
            <a:endParaRPr b="1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Cheerleader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Dense Layer and Residual block classes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Backward pass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Weight Updating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8000" y="489650"/>
            <a:ext cx="1066000" cy="190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225" y="2037350"/>
            <a:ext cx="25241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3050" y="1821275"/>
            <a:ext cx="2535184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313975" y="1363500"/>
            <a:ext cx="8044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Input and Output Data Grid - Input Processing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513" y="2539975"/>
            <a:ext cx="28479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150" y="2175550"/>
            <a:ext cx="3075025" cy="250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2125" y="2005850"/>
            <a:ext cx="3110875" cy="266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729450" y="1318650"/>
            <a:ext cx="79053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Input and Output Data Grid - Output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Output as a list of moves and the chance of the move being the best 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(A6 -&gt; B7: </a:t>
            </a:r>
            <a:r>
              <a:rPr b="1" lang="en"/>
              <a:t>60%</a:t>
            </a:r>
            <a:r>
              <a:rPr lang="en"/>
              <a:t>, C3 -&gt; B2: </a:t>
            </a:r>
            <a:r>
              <a:rPr b="1" lang="en"/>
              <a:t>35%</a:t>
            </a:r>
            <a:r>
              <a:rPr lang="en"/>
              <a:t>, F4 -&gt; E5: </a:t>
            </a:r>
            <a:r>
              <a:rPr b="1" lang="en"/>
              <a:t>5%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Ideal (Ex): (</a:t>
            </a:r>
            <a:r>
              <a:rPr lang="en"/>
              <a:t>A6 -&gt; B7: </a:t>
            </a:r>
            <a:r>
              <a:rPr b="1" lang="en"/>
              <a:t>98.5%,</a:t>
            </a:r>
            <a:r>
              <a:rPr lang="en"/>
              <a:t> C3 -&gt; B2: </a:t>
            </a:r>
            <a:r>
              <a:rPr b="1" lang="en"/>
              <a:t>1.0%</a:t>
            </a:r>
            <a:r>
              <a:rPr lang="en"/>
              <a:t>, F4 -&gt; E5: </a:t>
            </a:r>
            <a:r>
              <a:rPr b="1" lang="en"/>
              <a:t>0. 5%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Management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Jira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User stories &amp; Tasks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Sub-Tasks (Implementation)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>
            <p:ph type="title"/>
          </p:nvPr>
        </p:nvSpPr>
        <p:spPr>
          <a:xfrm>
            <a:off x="849050" y="494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1 - User Stories and Tasks</a:t>
            </a:r>
            <a:endParaRPr/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" y="1030061"/>
            <a:ext cx="9144001" cy="4113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0" y="0"/>
            <a:ext cx="9144000" cy="4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1 - Subtasks (Example)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143" y="478500"/>
            <a:ext cx="7307720" cy="466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727650" y="548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1 - Sprint Report</a:t>
            </a:r>
            <a:endParaRPr/>
          </a:p>
        </p:txBody>
      </p:sp>
      <p:graphicFrame>
        <p:nvGraphicFramePr>
          <p:cNvPr id="149" name="Google Shape;149;p22"/>
          <p:cNvGraphicFramePr/>
          <p:nvPr/>
        </p:nvGraphicFramePr>
        <p:xfrm>
          <a:off x="468875" y="217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{1812C731-204B-4E57-A215-82C96A58556C}</a:tableStyleId>
              </a:tblPr>
              <a:tblGrid>
                <a:gridCol w="1336450"/>
                <a:gridCol w="1336450"/>
                <a:gridCol w="1336450"/>
              </a:tblGrid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Received Stories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Resolved Stories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Carry Over Stories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CBA-8 (20/24)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CBA-8 (15/24)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CBA-8 (2/24)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CBA-9 (2/20)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CBA-10(3/20)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CBA-9(2/20)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CBA-10 (3/20)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CBA-11(2/24)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CBA-11 (2/24)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0" name="Google Shape;150;p22"/>
          <p:cNvGraphicFramePr/>
          <p:nvPr/>
        </p:nvGraphicFramePr>
        <p:xfrm>
          <a:off x="4777925" y="208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{1812C731-204B-4E57-A215-82C96A58556C}</a:tableStyleId>
              </a:tblPr>
              <a:tblGrid>
                <a:gridCol w="1413700"/>
                <a:gridCol w="1468950"/>
                <a:gridCol w="1358450"/>
              </a:tblGrid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Received Stories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Resolved Stories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Carry Over Stories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CBA-8 (3/24)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CBA-8 (3/24)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CBA-9 (3/20)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CBA-9 (3/20)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CBA-10 (12/20)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CBA-10 (3/20)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CBA-10 (15/20)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CBA-11 (3/22)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CBA-11 (3/22)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1" name="Google Shape;151;p22"/>
          <p:cNvSpPr txBox="1"/>
          <p:nvPr/>
        </p:nvSpPr>
        <p:spPr>
          <a:xfrm>
            <a:off x="1408250" y="1629775"/>
            <a:ext cx="21306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Daniel</a:t>
            </a:r>
            <a:endParaRPr b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5694875" y="1629775"/>
            <a:ext cx="21306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Sebastian</a:t>
            </a:r>
            <a:endParaRPr b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727650" y="548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1 - Sprint Report</a:t>
            </a:r>
            <a:endParaRPr/>
          </a:p>
        </p:txBody>
      </p:sp>
      <p:graphicFrame>
        <p:nvGraphicFramePr>
          <p:cNvPr id="158" name="Google Shape;158;p23"/>
          <p:cNvGraphicFramePr/>
          <p:nvPr/>
        </p:nvGraphicFramePr>
        <p:xfrm>
          <a:off x="468875" y="217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{1812C731-204B-4E57-A215-82C96A58556C}</a:tableStyleId>
              </a:tblPr>
              <a:tblGrid>
                <a:gridCol w="1336450"/>
                <a:gridCol w="1336450"/>
                <a:gridCol w="1336450"/>
              </a:tblGrid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Received Stories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Resolved Stories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Carry Over Stories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CBA-9 (2/20)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CBA-9 (2/20)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CBA-10 (3/20)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CBA-10 (3/20)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CBA-11 (13/22)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CBA-11 (13/22)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9" name="Google Shape;159;p23"/>
          <p:cNvGraphicFramePr/>
          <p:nvPr/>
        </p:nvGraphicFramePr>
        <p:xfrm>
          <a:off x="4755500" y="217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{1812C731-204B-4E57-A215-82C96A58556C}</a:tableStyleId>
              </a:tblPr>
              <a:tblGrid>
                <a:gridCol w="1336450"/>
                <a:gridCol w="1336450"/>
                <a:gridCol w="1336450"/>
              </a:tblGrid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Received Stories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Resolved Stories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Carry Over Stories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CBA-8 (3/24)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CBA-8 (3/24)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CBA-9 (2/20)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CBA-9 (14/20)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CBA-9 (12/20)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CBA-10 (3/20)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CBA-10 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CBA-11 (4/22)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CBA-11 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0" name="Google Shape;160;p23"/>
          <p:cNvSpPr txBox="1"/>
          <p:nvPr/>
        </p:nvSpPr>
        <p:spPr>
          <a:xfrm>
            <a:off x="1408250" y="1629775"/>
            <a:ext cx="21306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Alex</a:t>
            </a:r>
            <a:endParaRPr b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5694875" y="1629775"/>
            <a:ext cx="21306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Georges</a:t>
            </a:r>
            <a:endParaRPr b="1"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